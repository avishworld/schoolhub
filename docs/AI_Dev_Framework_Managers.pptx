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1646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D9A3D-4B7A-9DC8-3136-B847E90F7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8731C8-E73B-1BD6-1480-D4A879789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11A2F9-1C4E-6367-5225-2A0564C16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EDA62-1150-8FE0-CDD6-8008BE7C2D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90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6FF5"/>
          </a:solidFill>
          <a:ln w="12700">
            <a:solidFill>
              <a:srgbClr val="4F6FF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64008" cy="2651760"/>
          </a:xfrm>
          <a:prstGeom prst="rect">
            <a:avLst/>
          </a:prstGeom>
          <a:solidFill>
            <a:srgbClr val="4F6FF5"/>
          </a:solidFill>
          <a:ln w="12700">
            <a:solidFill>
              <a:srgbClr val="4F6FF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749808" y="8229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AI-Assisted Development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9808" y="175564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3C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230428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כיצד הצוות עובד — מרעיון ועד ביצוע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28346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מדריך למנהלים: תפקידים, תהליכים ונקודות התערבות אנושית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99032" y="3767328"/>
            <a:ext cx="1463040" cy="384048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1399032" y="37673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26664" y="3767328"/>
            <a:ext cx="1463040" cy="384048"/>
          </a:xfrm>
          <a:prstGeom prst="rect">
            <a:avLst/>
          </a:prstGeom>
          <a:solidFill>
            <a:srgbClr val="4F6FF5">
              <a:alpha val="20000"/>
            </a:srgbClr>
          </a:solidFill>
          <a:ln w="12700">
            <a:solidFill>
              <a:srgbClr val="4F6FF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3026664" y="37673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[CTO]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54296" y="3767328"/>
            <a:ext cx="1463040" cy="384048"/>
          </a:xfrm>
          <a:prstGeom prst="rect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4654296" y="37673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[DEV]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81928" y="3767328"/>
            <a:ext cx="1463040" cy="384048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6281928" y="37673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[QA]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252"/>
          </a:solidFill>
          <a:ln w="12700">
            <a:solidFill>
              <a:srgbClr val="1A225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SchoolHub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2252"/>
          </a:solidFill>
          <a:ln w="12700">
            <a:solidFill>
              <a:srgbClr val="1A2252"/>
            </a:solidFill>
            <a:prstDash val="solid"/>
          </a:ln>
        </p:spPr>
        <p:txBody>
          <a:bodyPr/>
          <a:lstStyle/>
          <a:p>
            <a:endParaRPr lang="he-IL" dirty="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הבסיס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3" name="תמונה 22">
            <a:extLst>
              <a:ext uri="{FF2B5EF4-FFF2-40B4-BE49-F238E27FC236}">
                <a16:creationId xmlns:a16="http://schemas.microsoft.com/office/drawing/2014/main" id="{20B93E66-E6D1-855D-5393-C412AE9FDF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154"/>
          <a:stretch>
            <a:fillRect/>
          </a:stretch>
        </p:blipFill>
        <p:spPr>
          <a:xfrm>
            <a:off x="391885" y="741182"/>
            <a:ext cx="1814286" cy="4169134"/>
          </a:xfrm>
          <a:prstGeom prst="rect">
            <a:avLst/>
          </a:prstGeom>
        </p:spPr>
      </p:pic>
      <p:pic>
        <p:nvPicPr>
          <p:cNvPr id="25" name="תמונה 24">
            <a:extLst>
              <a:ext uri="{FF2B5EF4-FFF2-40B4-BE49-F238E27FC236}">
                <a16:creationId xmlns:a16="http://schemas.microsoft.com/office/drawing/2014/main" id="{8EFE3458-5C41-5148-5541-92C46514F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1844" y="1675030"/>
            <a:ext cx="5959356" cy="2301439"/>
          </a:xfrm>
          <a:prstGeom prst="rect">
            <a:avLst/>
          </a:prstGeom>
        </p:spPr>
      </p:pic>
      <p:sp>
        <p:nvSpPr>
          <p:cNvPr id="26" name="Text 4">
            <a:extLst>
              <a:ext uri="{FF2B5EF4-FFF2-40B4-BE49-F238E27FC236}">
                <a16:creationId xmlns:a16="http://schemas.microsoft.com/office/drawing/2014/main" id="{BC766903-EDF8-B0D7-BC4D-9369052FB23D}"/>
              </a:ext>
            </a:extLst>
          </p:cNvPr>
          <p:cNvSpPr/>
          <p:nvPr/>
        </p:nvSpPr>
        <p:spPr>
          <a:xfrm>
            <a:off x="3530745" y="138822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</a:t>
            </a:r>
            <a:r>
              <a:rPr lang="he-IL" sz="115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160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he-IL" sz="115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Agents</a:t>
            </a:r>
            <a:endParaRPr lang="en-US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F5F57-C225-93D3-175A-F6BF14224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D2858A-0B78-94BA-56B0-C2C648EAFF64}"/>
              </a:ext>
            </a:extLst>
          </p:cNvPr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2252"/>
          </a:solidFill>
          <a:ln w="12700">
            <a:solidFill>
              <a:srgbClr val="1A225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A6D14C-5F91-D832-B28B-FDECD6F07CFE}"/>
              </a:ext>
            </a:extLst>
          </p:cNvPr>
          <p:cNvSpPr/>
          <p:nvPr/>
        </p:nvSpPr>
        <p:spPr>
          <a:xfrm>
            <a:off x="320040" y="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השיטה</a:t>
            </a:r>
            <a:r>
              <a:rPr lang="he-IL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</a:t>
            </a:r>
            <a:r>
              <a:rPr lang="en-US" sz="1900" b="1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שלושה</a:t>
            </a: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עקרונות יסוד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688A498-FAD2-49FB-AFE8-F409219398CB}"/>
              </a:ext>
            </a:extLst>
          </p:cNvPr>
          <p:cNvSpPr/>
          <p:nvPr/>
        </p:nvSpPr>
        <p:spPr>
          <a:xfrm>
            <a:off x="438912" y="658368"/>
            <a:ext cx="2651760" cy="3611880"/>
          </a:xfrm>
          <a:prstGeom prst="rect">
            <a:avLst/>
          </a:prstGeom>
          <a:solidFill>
            <a:srgbClr val="FFFBEB"/>
          </a:solidFill>
          <a:ln w="12700">
            <a:solidFill>
              <a:srgbClr val="D1D5DB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017F98E-924F-8978-2E0E-63C5077A681C}"/>
              </a:ext>
            </a:extLst>
          </p:cNvPr>
          <p:cNvSpPr/>
          <p:nvPr/>
        </p:nvSpPr>
        <p:spPr>
          <a:xfrm>
            <a:off x="438912" y="658368"/>
            <a:ext cx="26517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BA56C5-74DD-14AD-22DC-9CE398B80D9E}"/>
              </a:ext>
            </a:extLst>
          </p:cNvPr>
          <p:cNvSpPr/>
          <p:nvPr/>
        </p:nvSpPr>
        <p:spPr>
          <a:xfrm>
            <a:off x="438912" y="822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👤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BF3D7C2-2340-A857-435E-E5786A8452D5}"/>
              </a:ext>
            </a:extLst>
          </p:cNvPr>
          <p:cNvSpPr/>
          <p:nvPr/>
        </p:nvSpPr>
        <p:spPr>
          <a:xfrm>
            <a:off x="576072" y="14996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האדם </a:t>
            </a:r>
            <a:r>
              <a:rPr lang="en-US" sz="1400" b="1" dirty="0" err="1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מחליט</a:t>
            </a:r>
            <a:r>
              <a:rPr lang="en-US" sz="140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140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140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AI מבצע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A51AA2B-61E0-657A-4B72-7DCD1900CF70}"/>
              </a:ext>
            </a:extLst>
          </p:cNvPr>
          <p:cNvSpPr/>
          <p:nvPr/>
        </p:nvSpPr>
        <p:spPr>
          <a:xfrm>
            <a:off x="576072" y="2029968"/>
            <a:ext cx="2377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544F658-49D9-AE4A-F688-809894FF018C}"/>
              </a:ext>
            </a:extLst>
          </p:cNvPr>
          <p:cNvSpPr/>
          <p:nvPr/>
        </p:nvSpPr>
        <p:spPr>
          <a:xfrm>
            <a:off x="576072" y="2121408"/>
            <a:ext cx="2377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1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המנהל</a:t>
            </a: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(FOUNDER) </a:t>
            </a:r>
            <a:r>
              <a:rPr lang="he-IL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מגדיר</a:t>
            </a: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עדיפויות ומאשר החלטות בלתי-הפיכות.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סוכני ה-AI כותבים קוד, מתכננים </a:t>
            </a:r>
            <a:r>
              <a:rPr lang="en-US" sz="11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ובודקים</a:t>
            </a: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1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אך</a:t>
            </a: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לא מחליטים לבד על כיוון אסטרטגי.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FF95372-1931-F039-9AC7-C11CB6F7544B}"/>
              </a:ext>
            </a:extLst>
          </p:cNvPr>
          <p:cNvSpPr/>
          <p:nvPr/>
        </p:nvSpPr>
        <p:spPr>
          <a:xfrm>
            <a:off x="3246120" y="658368"/>
            <a:ext cx="2651760" cy="3611880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B6BFDA4-660A-2402-9612-7B71552435D4}"/>
              </a:ext>
            </a:extLst>
          </p:cNvPr>
          <p:cNvSpPr/>
          <p:nvPr/>
        </p:nvSpPr>
        <p:spPr>
          <a:xfrm>
            <a:off x="3246120" y="658368"/>
            <a:ext cx="2651760" cy="64008"/>
          </a:xfrm>
          <a:prstGeom prst="rect">
            <a:avLst/>
          </a:prstGeom>
          <a:solidFill>
            <a:srgbClr val="4F6FF5"/>
          </a:solidFill>
          <a:ln w="12700">
            <a:solidFill>
              <a:srgbClr val="4F6FF5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03825DA-2A76-A6AF-B377-3DFC657475AA}"/>
              </a:ext>
            </a:extLst>
          </p:cNvPr>
          <p:cNvSpPr/>
          <p:nvPr/>
        </p:nvSpPr>
        <p:spPr>
          <a:xfrm>
            <a:off x="3246120" y="822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⚙️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9C0C394-F4C9-DAEC-8F89-F55E3B02E051}"/>
              </a:ext>
            </a:extLst>
          </p:cNvPr>
          <p:cNvSpPr/>
          <p:nvPr/>
        </p:nvSpPr>
        <p:spPr>
          <a:xfrm>
            <a:off x="3383280" y="14996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4F6F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חלוקה ברורה לתפקידים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FF4604B-B391-94AB-34AA-01CF56AB293A}"/>
              </a:ext>
            </a:extLst>
          </p:cNvPr>
          <p:cNvSpPr/>
          <p:nvPr/>
        </p:nvSpPr>
        <p:spPr>
          <a:xfrm>
            <a:off x="3383280" y="2029968"/>
            <a:ext cx="2377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197545A-1D75-8245-713A-BADCA9D9AA30}"/>
              </a:ext>
            </a:extLst>
          </p:cNvPr>
          <p:cNvSpPr/>
          <p:nvPr/>
        </p:nvSpPr>
        <p:spPr>
          <a:xfrm>
            <a:off x="3383280" y="2121408"/>
            <a:ext cx="2377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1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כל</a:t>
            </a: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סוכן</a:t>
            </a: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AI</a:t>
            </a:r>
            <a:r>
              <a:rPr lang="he-IL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מתמחה</a:t>
            </a: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בתפקיד </a:t>
            </a:r>
            <a:r>
              <a:rPr lang="en-US" sz="11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אחד</a:t>
            </a: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בלבד</a:t>
            </a:r>
            <a:r>
              <a:rPr lang="he-IL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CTO </a:t>
            </a:r>
            <a:r>
              <a:rPr lang="he-IL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</a:t>
            </a: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ארכיטקטורה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 </a:t>
            </a:r>
            <a:r>
              <a:rPr lang="he-IL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</a:t>
            </a: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פיתוח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QA </a:t>
            </a:r>
            <a:r>
              <a:rPr lang="he-IL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</a:t>
            </a: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בדיקות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ההפרדה מונעת בלבול ומבטיחה איכות בכל שלב.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F754DA9-9813-D2CC-9485-5BECAB38CCB9}"/>
              </a:ext>
            </a:extLst>
          </p:cNvPr>
          <p:cNvSpPr/>
          <p:nvPr/>
        </p:nvSpPr>
        <p:spPr>
          <a:xfrm>
            <a:off x="6053328" y="658368"/>
            <a:ext cx="2651760" cy="3611880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B690F44-A2E2-D773-61DC-A2BFA04E705F}"/>
              </a:ext>
            </a:extLst>
          </p:cNvPr>
          <p:cNvSpPr/>
          <p:nvPr/>
        </p:nvSpPr>
        <p:spPr>
          <a:xfrm>
            <a:off x="6053328" y="658368"/>
            <a:ext cx="265176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22C89C4-0FF6-4D81-3A04-CA382BA65875}"/>
              </a:ext>
            </a:extLst>
          </p:cNvPr>
          <p:cNvSpPr/>
          <p:nvPr/>
        </p:nvSpPr>
        <p:spPr>
          <a:xfrm>
            <a:off x="6053328" y="822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📄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AFE5233-ACC0-9261-66AC-84449B4F69E5}"/>
              </a:ext>
            </a:extLst>
          </p:cNvPr>
          <p:cNvSpPr/>
          <p:nvPr/>
        </p:nvSpPr>
        <p:spPr>
          <a:xfrm>
            <a:off x="6190488" y="14996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5966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תיעוד רציף ושקיפות מלאה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B2C55A9-46A4-BEE0-9B63-01CBA583B070}"/>
              </a:ext>
            </a:extLst>
          </p:cNvPr>
          <p:cNvSpPr/>
          <p:nvPr/>
        </p:nvSpPr>
        <p:spPr>
          <a:xfrm>
            <a:off x="6190488" y="2029968"/>
            <a:ext cx="2377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4D22DC4-119A-AC30-FEF7-FEA8E6011F41}"/>
              </a:ext>
            </a:extLst>
          </p:cNvPr>
          <p:cNvSpPr/>
          <p:nvPr/>
        </p:nvSpPr>
        <p:spPr>
          <a:xfrm>
            <a:off x="6190488" y="2121408"/>
            <a:ext cx="2377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כל החלטה מתועדת (DECISIONS.md)</a:t>
            </a:r>
            <a:r>
              <a:rPr lang="he-IL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1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כל</a:t>
            </a: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ספרינט מתועד, כל באג מתועד.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התיעוד מאפשר שקיפות מלאה </a:t>
            </a:r>
            <a:r>
              <a:rPr lang="en-US" sz="11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למנהלים</a:t>
            </a: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1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בכל</a:t>
            </a:r>
            <a:r>
              <a:rPr lang="en-US" sz="11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רגע ניתן לדעת מה קרה ומדוע.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911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2252"/>
          </a:solidFill>
          <a:ln w="12700">
            <a:solidFill>
              <a:srgbClr val="1A225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ארבעת</a:t>
            </a: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900" b="1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התפקידים</a:t>
            </a:r>
            <a:r>
              <a:rPr lang="he-IL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</a:t>
            </a: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מי עושה מה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42900" y="658368"/>
            <a:ext cx="2011680" cy="3703320"/>
          </a:xfrm>
          <a:prstGeom prst="rect">
            <a:avLst/>
          </a:prstGeom>
          <a:solidFill>
            <a:srgbClr val="FFFBEB"/>
          </a:solidFill>
          <a:ln w="12700">
            <a:solidFill>
              <a:srgbClr val="D1D5DB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342900" y="658368"/>
            <a:ext cx="201168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42900" y="6583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FOUNDER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2628" y="120700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dirty="0" err="1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מנהל</a:t>
            </a:r>
            <a:r>
              <a:rPr lang="en-US" sz="115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115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115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מקבל החלטות</a:t>
            </a:r>
            <a:endParaRPr lang="en-US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2628" y="1591056"/>
            <a:ext cx="179222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2628" y="1664208"/>
            <a:ext cx="1792224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6000" indent="-342900" algn="r" defTabSz="756000" rtl="1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מגדיר עדיפויות ופיצ'רים חדשים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16000" indent="-342900" algn="r" defTabSz="756000" rtl="1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מאשר החלטות בלתי-הפיכות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16000" indent="-342900" algn="r" defTabSz="756000" rtl="1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מקבל דיווחי התקדמות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16000" indent="-342900" algn="r" defTabSz="756000" rtl="1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Sign-off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סופי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בכל ספרינט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16000" indent="-342900" algn="r" defTabSz="756000" rtl="1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הבוס האמיתי 👑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91740" y="658368"/>
            <a:ext cx="2011680" cy="3703320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2491740" y="658368"/>
            <a:ext cx="2011680" cy="475488"/>
          </a:xfrm>
          <a:prstGeom prst="rect">
            <a:avLst/>
          </a:prstGeom>
          <a:solidFill>
            <a:srgbClr val="4F6FF5"/>
          </a:solidFill>
          <a:ln w="12700">
            <a:solidFill>
              <a:srgbClr val="4F6FF5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491740" y="6583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[CTO]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01468" y="120700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dirty="0">
                <a:solidFill>
                  <a:srgbClr val="4F6F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ארכיטקט ומתכנן</a:t>
            </a:r>
            <a:endParaRPr lang="en-US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01468" y="1591056"/>
            <a:ext cx="179222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601468" y="1664208"/>
            <a:ext cx="1792224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8000" indent="-342900" algn="r" rtl="1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מתכנן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מבנה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המערכת</a:t>
            </a:r>
            <a:endParaRPr lang="en-US" sz="1050" dirty="0">
              <a:solidFill>
                <a:srgbClr val="1E293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8000" indent="-342900" algn="r" rtl="1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מקבל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החלטות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טכניות</a:t>
            </a:r>
            <a:endParaRPr lang="en-US" sz="1050" dirty="0">
              <a:solidFill>
                <a:srgbClr val="1E293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8000" indent="-342900" algn="r" rtl="1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שובר features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למשימות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DEV</a:t>
            </a:r>
          </a:p>
          <a:p>
            <a:pPr marL="288000" indent="-342900" algn="r" rtl="1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מבצע Code Review</a:t>
            </a:r>
          </a:p>
          <a:p>
            <a:pPr marL="288000" indent="-342900" algn="r" rtl="1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מגדיר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קריטריוני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איכות</a:t>
            </a:r>
            <a:endParaRPr lang="en-US" sz="1050" dirty="0">
              <a:solidFill>
                <a:srgbClr val="1E293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40580" y="658368"/>
            <a:ext cx="2011680" cy="3703320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4640580" y="658368"/>
            <a:ext cx="201168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40580" y="6583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[DEV]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50308" y="120700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dirty="0">
                <a:solidFill>
                  <a:srgbClr val="05966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מפתח ומיישם</a:t>
            </a:r>
            <a:endParaRPr lang="en-US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0308" y="1591056"/>
            <a:ext cx="179222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50308" y="1664208"/>
            <a:ext cx="1792224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קורא קוד קיים לפני כתיבה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r" rtl="1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כותב קוד נקי ועובד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r" rtl="1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כותב unit + E2E tests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r" rtl="1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מדגל blockers מיד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r" rtl="1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מדווח: מה שונה ומדוע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789420" y="658368"/>
            <a:ext cx="2011680" cy="3703320"/>
          </a:xfrm>
          <a:prstGeom prst="rect">
            <a:avLst/>
          </a:prstGeom>
          <a:solidFill>
            <a:srgbClr val="F5F3FF"/>
          </a:solidFill>
          <a:ln w="12700">
            <a:solidFill>
              <a:srgbClr val="D1D5DB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6789420" y="658368"/>
            <a:ext cx="201168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789420" y="6583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[QA]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99148" y="120700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dirty="0">
                <a:solidFill>
                  <a:srgbClr val="7C3AE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מוודא איכות</a:t>
            </a:r>
            <a:endParaRPr lang="en-US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899148" y="1591056"/>
            <a:ext cx="179222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99148" y="1664208"/>
            <a:ext cx="1792224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מתכנן תרחישי בדיקה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r" rtl="1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מריץ כל הבדיקות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r" rtl="1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מתעד באגים בפורמט מובנה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r" rtl="1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בודק regression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r" rtl="1">
              <a:buSzPct val="100000"/>
              <a:buChar char="•"/>
            </a:pP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נותן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Sign-off לפני DONE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שלב</a:t>
            </a: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he-IL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900" b="1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הגדרת</a:t>
            </a: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רעיון ועדיפויות  [FOUNDER]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3566160" cy="65836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5488" y="71323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PRD.md </a:t>
            </a:r>
            <a:r>
              <a:rPr lang="he-IL" sz="115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</a:t>
            </a:r>
            <a:r>
              <a:rPr lang="en-US" sz="115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מסמך דרישות</a:t>
            </a:r>
            <a:endParaRPr lang="en-US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5488" y="98755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מה המוצר עושה? מי המשתמשים? אילו User Stories?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084832" y="1316736"/>
            <a:ext cx="36576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408176"/>
            <a:ext cx="3566160" cy="65836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1408176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5488" y="14630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Sprint Index</a:t>
            </a:r>
            <a:endParaRPr lang="en-US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" y="17373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Goal, Scope, Exit Criteria, Risks לספרינט הנוכחי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084832" y="2066544"/>
            <a:ext cx="36576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2157984"/>
            <a:ext cx="3566160" cy="65836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2157984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5488" y="221284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קביעת עדיפות</a:t>
            </a:r>
            <a:endParaRPr lang="en-US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5488" y="248716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איזה פיצ'ר עכשיו? מה הכי קריטי לעסק?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084832" y="2816352"/>
            <a:ext cx="36576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2907792"/>
            <a:ext cx="3566160" cy="65836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2907792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5488" y="296265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הגדרת Scope</a:t>
            </a:r>
            <a:endParaRPr lang="en-US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5488" y="323697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מה בפנים, מה בחוץ מהספרינט — ברור לכולם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084832" y="3566160"/>
            <a:ext cx="36576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3657600"/>
            <a:ext cx="3566160" cy="65836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" y="3657600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5488" y="371246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FLAG </a:t>
            </a:r>
            <a:r>
              <a:rPr lang="he-IL" sz="115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</a:t>
            </a:r>
            <a:r>
              <a:rPr lang="en-US" sz="115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החלטות גדולות</a:t>
            </a:r>
            <a:endParaRPr lang="en-US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5488" y="398678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CTO מדגל החלטות בלתי-הפיכות → FOUNDER מחליט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069080" y="658368"/>
            <a:ext cx="4754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069080" y="658368"/>
            <a:ext cx="47548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206240" y="6583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עקרונות FOUNDER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321040" y="128930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👑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233672" y="130759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FOUNDER</a:t>
            </a:r>
            <a:r>
              <a:rPr lang="he-IL" sz="12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הוא</a:t>
            </a:r>
            <a:r>
              <a:rPr lang="en-US" sz="12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מקבל </a:t>
            </a:r>
            <a:r>
              <a:rPr lang="en-US" sz="12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ההחלטות</a:t>
            </a:r>
            <a:r>
              <a:rPr lang="en-US" sz="12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הסופי</a:t>
            </a:r>
            <a:r>
              <a:rPr lang="en-US" sz="12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12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2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תמיד</a:t>
            </a:r>
            <a:r>
              <a:rPr lang="en-US" sz="12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ללא יוצא מן הכלל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206240" y="1856232"/>
            <a:ext cx="44805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321040" y="197510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🚩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233672" y="199339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CTO</a:t>
            </a:r>
            <a:r>
              <a:rPr lang="he-IL" sz="12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מעלה דגל </a:t>
            </a:r>
            <a:r>
              <a:rPr lang="en-US" sz="12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(FLAG) </a:t>
            </a:r>
            <a:r>
              <a:rPr lang="he-IL" sz="12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כל</a:t>
            </a:r>
            <a:r>
              <a:rPr lang="en-US" sz="12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החלטה </a:t>
            </a:r>
            <a:r>
              <a:rPr lang="en-US" sz="12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בלתי-הפיכה</a:t>
            </a:r>
            <a:r>
              <a:rPr lang="en-US" sz="12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12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12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FOUNDER </a:t>
            </a:r>
            <a:r>
              <a:rPr lang="he-IL" sz="12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מחליט</a:t>
            </a:r>
            <a:r>
              <a:rPr lang="en-US" sz="12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לפני המשך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206240" y="2542032"/>
            <a:ext cx="44805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321040" y="266090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📋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233672" y="267919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הספרינט מוגדר מראש: Goal + Scope + Exit Criteria ברורים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206240" y="3227832"/>
            <a:ext cx="44805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321040" y="334670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🔄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233672" y="336499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בסוף כל ספרינט: Review + Retrospective + כיוון לספרינט הבא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206240" y="3913632"/>
            <a:ext cx="44805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321040" y="403250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⚡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233672" y="405079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החלטות הפיכות — CTO מחליט מהיר ומתקדם ללא עצירה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4F6FF5"/>
          </a:solidFill>
          <a:ln w="12700">
            <a:solidFill>
              <a:srgbClr val="4F6FF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שלב2 </a:t>
            </a:r>
            <a:r>
              <a:rPr lang="he-IL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</a:t>
            </a: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ארכיטקטורה, החלטות ושער ההחלטה  [CTO]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92608" y="658368"/>
            <a:ext cx="2560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92608" y="658368"/>
            <a:ext cx="2560320" cy="457200"/>
          </a:xfrm>
          <a:prstGeom prst="rect">
            <a:avLst/>
          </a:prstGeom>
          <a:solidFill>
            <a:srgbClr val="4F6FF5"/>
          </a:solidFill>
          <a:ln w="12700">
            <a:solidFill>
              <a:srgbClr val="4F6FF5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02336" y="65836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[CTO] </a:t>
            </a:r>
            <a:r>
              <a:rPr lang="he-IL" sz="13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</a:t>
            </a:r>
            <a:r>
              <a:rPr lang="en-US" sz="13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מה הוא עושה</a:t>
            </a:r>
            <a:endParaRPr lang="en-US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377440" y="120425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🏗️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02336" y="1261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6F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Architecture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" y="1536192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מתכנן component diagram, data flow 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ו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module boundaries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02336" y="2029968"/>
            <a:ext cx="234086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377440" y="208309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⚙️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02336" y="2148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6F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 Decisions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2336" y="2423160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בוחר libraries 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ו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patterns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0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מתעד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WHY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 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DECISIONS.md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02336" y="2916936"/>
            <a:ext cx="234086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377440" y="2943497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📋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2336" y="30358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6F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 Planning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02336" y="3310128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שובר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features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למשימות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DEV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מגדיר complexity 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ורצף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02336" y="3803904"/>
            <a:ext cx="234086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391156" y="387988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🔍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02336" y="392277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6F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Code Review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02336" y="4197096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בודק security, performance 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ו-maintainability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108960" y="658368"/>
            <a:ext cx="2743200" cy="4114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108960" y="658368"/>
            <a:ext cx="274320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18688" y="65836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⬡ שער ההחלטה</a:t>
            </a:r>
            <a:endParaRPr lang="en-US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18688" y="118872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EA580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האם ההחלטה הפיכה?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46120" y="1709928"/>
            <a:ext cx="2468880" cy="128016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310128" y="1764792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5966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✅  כן — הפיכה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310128" y="2103120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CTO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מחליט מיד ומתקדם.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החלטה מתועדת בקצרה.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אין צורך להמתין לאישור.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246120" y="3127248"/>
            <a:ext cx="2468880" cy="1508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310128" y="3182112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DC262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🚩  </a:t>
            </a:r>
            <a:r>
              <a:rPr lang="en-US" sz="1200" b="1" dirty="0" err="1">
                <a:solidFill>
                  <a:srgbClr val="DC262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לא</a:t>
            </a:r>
            <a:r>
              <a:rPr lang="en-US" sz="1200" b="1" dirty="0">
                <a:solidFill>
                  <a:srgbClr val="DC262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1200" b="1" dirty="0">
                <a:solidFill>
                  <a:srgbClr val="DC262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1200" b="1" dirty="0">
                <a:solidFill>
                  <a:srgbClr val="DC262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בלתי-הפיכה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310128" y="3520440"/>
            <a:ext cx="234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CTO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מ</a:t>
            </a:r>
            <a:r>
              <a:rPr lang="he-IL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רים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דגל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ל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FOUNDER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מציג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אפשרויות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trade-offs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FOUNDER 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מחליט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לפני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המשך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מתועד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ב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DECISIONS.md.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108192" y="658368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08192" y="658368"/>
            <a:ext cx="274320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217920" y="65836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📄 מסמכים שנוצרים</a:t>
            </a:r>
            <a:endParaRPr lang="en-US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245352" y="1207008"/>
            <a:ext cx="246888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309360" y="125272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4F6F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ARCHITECTURE.md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309360" y="1508760"/>
            <a:ext cx="2340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מבנה</a:t>
            </a:r>
            <a:r>
              <a:rPr lang="en-US" sz="9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המערכת</a:t>
            </a:r>
            <a:r>
              <a:rPr lang="he-IL" sz="9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data model, API endpoints</a:t>
            </a:r>
            <a:endParaRPr lang="en-US" sz="9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245352" y="1920240"/>
            <a:ext cx="246888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309360" y="196596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4F6F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DECISIONS.md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309360" y="2221992"/>
            <a:ext cx="2340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Context → Options → Decision → Rationale</a:t>
            </a:r>
            <a:endParaRPr lang="en-US" sz="9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245352" y="2633472"/>
            <a:ext cx="246888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309360" y="267919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4F6F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Sprint Index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309360" y="2935224"/>
            <a:ext cx="2340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Goal, Scope, Exit Criteria, Risks</a:t>
            </a:r>
            <a:endParaRPr lang="en-US" sz="9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45352" y="3346704"/>
            <a:ext cx="246888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309360" y="339242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4F6F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Sprint Todo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309360" y="3648456"/>
            <a:ext cx="2340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רשימת משימות מפורטת לספרינט</a:t>
            </a:r>
            <a:endParaRPr lang="en-US" sz="9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245352" y="4059936"/>
            <a:ext cx="246888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309360" y="410565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4F6F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Code Review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309360" y="4361688"/>
            <a:ext cx="2340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פידבק מפורט לקוד ש-DEV הגיש</a:t>
            </a:r>
            <a:endParaRPr lang="en-US" sz="9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שלב 3 </a:t>
            </a:r>
            <a:r>
              <a:rPr lang="he-IL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</a:t>
            </a: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פיתוח ויישום  [DEV]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97180" y="658368"/>
            <a:ext cx="19659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97180" y="658368"/>
            <a:ext cx="196596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7180" y="6583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4380" y="658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קרא קוד קיים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97180" y="125272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📖</a:t>
            </a:r>
            <a:endParaRPr lang="en-US" sz="3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25196" y="1892808"/>
            <a:ext cx="17099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לפני כתיבת שורה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אחת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קורא modules 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קיימים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ARCHITECTURE.md 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ו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-_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folder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לא מנחש. שואל אם משהו לא ברור.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99716" y="2491740"/>
            <a:ext cx="155448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491740" y="658368"/>
            <a:ext cx="19659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491740" y="658368"/>
            <a:ext cx="1965960" cy="502920"/>
          </a:xfrm>
          <a:prstGeom prst="rect">
            <a:avLst/>
          </a:prstGeom>
          <a:solidFill>
            <a:srgbClr val="4F6FF5"/>
          </a:solidFill>
          <a:ln w="12700">
            <a:solidFill>
              <a:srgbClr val="4F6FF5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91740" y="6583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02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948940" y="658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מממש קוד נקי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491740" y="125272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💻</a:t>
            </a:r>
            <a:endParaRPr lang="en-US" sz="3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619756" y="1892808"/>
            <a:ext cx="17099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כותב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לפי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patterns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קיימים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אין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over-engineering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1050" dirty="0">
              <a:solidFill>
                <a:srgbClr val="1E293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אין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dependencies 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חדשות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בלי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אישור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CTO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פותר את הבעיה הנוכחית, לא עתידיות.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494276" y="2491740"/>
            <a:ext cx="155448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86300" y="658368"/>
            <a:ext cx="19659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86300" y="658368"/>
            <a:ext cx="19659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86300" y="6583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43500" y="658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כותב בדיקות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86300" y="125272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🧪</a:t>
            </a:r>
            <a:endParaRPr lang="en-US" sz="3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14316" y="1892808"/>
            <a:ext cx="17099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כל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פיצ'ר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לפחות unit test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אחד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אין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DONE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בלי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tests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688836" y="2491740"/>
            <a:ext cx="155448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880860" y="658368"/>
            <a:ext cx="19659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880860" y="658368"/>
            <a:ext cx="196596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80860" y="6583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04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38060" y="658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מדווח ומדגל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80860" y="125272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📣</a:t>
            </a:r>
            <a:endParaRPr lang="en-US" sz="3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08876" y="1892808"/>
            <a:ext cx="17099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 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מובנה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מה יושם, אילו files 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שונו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אילו tests נוספו.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Blockers 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מדוגלים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מיד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DEV </a:t>
            </a:r>
            <a:r>
              <a:rPr lang="he-IL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לא</a:t>
            </a: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מנחש.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20040" y="4453128"/>
            <a:ext cx="8503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20040" y="45079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 Output</a:t>
            </a:r>
            <a:r>
              <a:rPr lang="he-IL" sz="110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1100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מה</a:t>
            </a:r>
            <a:r>
              <a:rPr lang="en-US" sz="110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יושם  ·  אילו files </a:t>
            </a:r>
            <a:r>
              <a:rPr lang="he-IL" sz="110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שונו</a:t>
            </a:r>
            <a:r>
              <a:rPr lang="en-US" sz="110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·  אילו tests </a:t>
            </a:r>
            <a:r>
              <a:rPr lang="he-IL" sz="110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נוספו</a:t>
            </a:r>
            <a:r>
              <a:rPr lang="en-US" sz="110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·  איך לוודא שעובד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שלב 4 </a:t>
            </a:r>
            <a:r>
              <a:rPr lang="he-IL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</a:t>
            </a: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בדיקות ואיכות  [QA]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92608" y="658368"/>
            <a:ext cx="3931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92608" y="658368"/>
            <a:ext cx="39319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02336" y="658368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תהליך</a:t>
            </a:r>
            <a:r>
              <a:rPr lang="en-US"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ה</a:t>
            </a:r>
            <a:r>
              <a:rPr lang="he-IL"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QA </a:t>
            </a:r>
            <a:r>
              <a:rPr lang="he-IL"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</a:t>
            </a:r>
            <a:r>
              <a:rPr lang="en-US"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שלב אחר שלב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749040" y="12618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📝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02336" y="1261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dirty="0">
                <a:solidFill>
                  <a:srgbClr val="7C3AE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 Planning</a:t>
            </a:r>
            <a:endParaRPr lang="en-US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" y="15361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QA 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מגדיר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תרחישים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Happy path, Error cases, Edge cases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02336" y="1865376"/>
            <a:ext cx="371246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749040" y="19751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▶️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02336" y="1975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dirty="0">
                <a:solidFill>
                  <a:srgbClr val="7C3AE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 Execution</a:t>
            </a:r>
            <a:endParaRPr lang="en-US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2336" y="22494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npm run test · npx playwright test · Lighthouse ≥90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02336" y="2578608"/>
            <a:ext cx="371246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49040" y="26883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🐛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2336" y="2688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dirty="0">
                <a:solidFill>
                  <a:srgbClr val="7C3AE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Bug Reports</a:t>
            </a:r>
            <a:endParaRPr lang="en-US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02336" y="29626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כל </a:t>
            </a:r>
            <a:r>
              <a:rPr lang="en-US" sz="10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באג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פורמט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מובנה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Steps, Expected, Actual, Severity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02336" y="3291840"/>
            <a:ext cx="371246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749040" y="340156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↩️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02336" y="3401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dirty="0">
                <a:solidFill>
                  <a:srgbClr val="7C3AE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Regression</a:t>
            </a:r>
            <a:endParaRPr lang="en-US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02336" y="36758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מוודא שפיצ'רים קיימים עדיין עובדים אחרי השינוי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02336" y="4005072"/>
            <a:ext cx="371246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749040" y="41148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✅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02336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dirty="0">
                <a:solidFill>
                  <a:srgbClr val="7C3AE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Sign-off → DONE</a:t>
            </a:r>
            <a:endParaRPr lang="en-US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02336" y="4389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רק אחרי כל הבדיקות </a:t>
            </a:r>
            <a:r>
              <a:rPr lang="en-US" sz="10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ירוקות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QA נותן אישור סופי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407408" y="658368"/>
            <a:ext cx="4434840" cy="1920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407408" y="658368"/>
            <a:ext cx="443484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17136" y="658368"/>
            <a:ext cx="4215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פורמט Bug Report </a:t>
            </a:r>
            <a:r>
              <a:rPr lang="he-IL" sz="13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מחויב</a:t>
            </a:r>
            <a:endParaRPr lang="en-US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0" y="1133856"/>
            <a:ext cx="41605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Bug: [תיאור קצר]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Steps to Reproduce: שלב 1, שלב 2...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Expected: [מה היה אמור לקרות]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Actual: [מה קרה בפועל]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Severity: Critical / High / Medium / Low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407408" y="2743200"/>
            <a:ext cx="4434840" cy="2029968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407408" y="2743200"/>
            <a:ext cx="44348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17136" y="2743200"/>
            <a:ext cx="4215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רמות הבדיקה</a:t>
            </a:r>
            <a:endParaRPr lang="en-US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44568" y="3218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Unit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687568" y="32186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6F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Vitest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949440" y="3218688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כל פיצ'ר חדש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544568" y="3566160"/>
            <a:ext cx="41605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544568" y="360273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Integration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687568" y="360273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6F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Vitest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949440" y="3602736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כשנוגעים ביותר ממודול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544568" y="3950208"/>
            <a:ext cx="41605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544568" y="39867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E2E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687568" y="39867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6F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Playwright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949440" y="3986784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כל שינוי UI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544568" y="4334256"/>
            <a:ext cx="41605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544568" y="43708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Screenshots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687568" y="43708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6F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Playwright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949440" y="437083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כל שינוי גרפי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היכן חייבת התערבות </a:t>
            </a:r>
            <a:r>
              <a:rPr lang="en-US" sz="1900" b="1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אנושית</a:t>
            </a: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5 נקודות קריטיות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 </a:t>
            </a:r>
            <a:r>
              <a:rPr lang="he-IL" sz="130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300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יכול</a:t>
            </a:r>
            <a:r>
              <a:rPr lang="en-US" sz="130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לעשות </a:t>
            </a:r>
            <a:r>
              <a:rPr lang="en-US" sz="1300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הרבה</a:t>
            </a:r>
            <a:r>
              <a:rPr lang="en-US" sz="130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130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30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אך נקודות אלו מחייבות החלטה אנושית</a:t>
            </a:r>
            <a:endParaRPr lang="en-US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88036" y="1005840"/>
            <a:ext cx="16002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88036" y="1005840"/>
            <a:ext cx="160020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88036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79476" y="15270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DC262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החלטות בלתי-הפיכות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79476" y="2048256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ארכיטקטורה, DB schema, tech stack 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קשה לחזור. CTO מדגל, FOUNDER מחליט.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9476" y="3621024"/>
            <a:ext cx="14173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79476" y="3694176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900" i="1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</a:t>
            </a:r>
            <a:r>
              <a:rPr lang="he-IL" sz="900" i="1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900" i="1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900" i="1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i="1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בחירת</a:t>
            </a:r>
            <a:r>
              <a:rPr lang="en-US" sz="900" i="1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Next.js+Supabase | PIN 6 ספרות</a:t>
            </a:r>
            <a:endParaRPr lang="en-US" sz="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29968" y="1005840"/>
            <a:ext cx="16002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029968" y="1005840"/>
            <a:ext cx="160020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029968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02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121408" y="15270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EA580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שינוי Scope </a:t>
            </a:r>
            <a:r>
              <a:rPr lang="he-IL" sz="1100" b="1" dirty="0">
                <a:solidFill>
                  <a:srgbClr val="EA580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100" b="1" dirty="0" err="1">
                <a:solidFill>
                  <a:srgbClr val="EA580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ספרינט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121408" y="2048256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הוספה/הסרה של פיצ'רים מהספרינט. משפיעה על לוחות זמנים ועל הצוות.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121408" y="3621024"/>
            <a:ext cx="14173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121408" y="3694176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900" i="1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מי מחליט מה בפנים </a:t>
            </a:r>
            <a:r>
              <a:rPr lang="en-US" sz="900" i="1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ומה</a:t>
            </a:r>
            <a:r>
              <a:rPr lang="en-US" sz="900" i="1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i="1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בחוץ</a:t>
            </a:r>
            <a:r>
              <a:rPr lang="en-US" sz="900" i="1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he-IL" sz="900" i="1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i="1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תמיד</a:t>
            </a:r>
            <a:r>
              <a:rPr lang="en-US" sz="900" i="1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FOUNDER</a:t>
            </a:r>
            <a:endParaRPr lang="en-US" sz="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771900" y="1005840"/>
            <a:ext cx="16002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771900" y="1005840"/>
            <a:ext cx="16002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7719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863340" y="15270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Sprint Sign-off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863340" y="2048256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בסוף ספרינט — FOUNDER בוחן תוצאות, מאשר שהמוצר עומד בציפיות.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863340" y="3621024"/>
            <a:ext cx="14173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863340" y="3694176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900" i="1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Sprint Review + Retrospective + Planning הבא</a:t>
            </a:r>
            <a:endParaRPr lang="en-US" sz="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513832" y="1005840"/>
            <a:ext cx="16002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513832" y="1005840"/>
            <a:ext cx="1600200" cy="457200"/>
          </a:xfrm>
          <a:prstGeom prst="rect">
            <a:avLst/>
          </a:prstGeom>
          <a:solidFill>
            <a:srgbClr val="4F6FF5"/>
          </a:solidFill>
          <a:ln w="12700">
            <a:solidFill>
              <a:srgbClr val="4F6FF5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513832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04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605272" y="15270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4F6F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Escalation </a:t>
            </a:r>
            <a:r>
              <a:rPr lang="he-IL" sz="1100" b="1" dirty="0">
                <a:solidFill>
                  <a:srgbClr val="4F6F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</a:t>
            </a:r>
            <a:r>
              <a:rPr lang="en-US" sz="1100" b="1" dirty="0">
                <a:solidFill>
                  <a:srgbClr val="4F6F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Blockers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605272" y="2048256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כשDEV/CTO נתקלים בחסם שאינו ניתן לפתרון מהיר — מדגלים ל-FOUNDER.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605272" y="3621024"/>
            <a:ext cx="14173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605272" y="3694176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900" i="1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הגבלת Supabase | משאבים | dependency חיצונית</a:t>
            </a:r>
            <a:endParaRPr lang="en-US" sz="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255764" y="1005840"/>
            <a:ext cx="16002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255764" y="1005840"/>
            <a:ext cx="160020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255764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05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347204" y="15270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5966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Review </a:t>
            </a:r>
            <a:r>
              <a:rPr lang="he-IL" sz="1100" b="1" dirty="0">
                <a:solidFill>
                  <a:srgbClr val="05966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100" b="1" dirty="0" err="1">
                <a:solidFill>
                  <a:srgbClr val="05966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שינויים</a:t>
            </a:r>
            <a:r>
              <a:rPr lang="en-US" sz="1100" b="1" dirty="0">
                <a:solidFill>
                  <a:srgbClr val="05966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גדולים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347204" y="2048256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שינויים </a:t>
            </a:r>
            <a:r>
              <a:rPr lang="en-US" sz="10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מהותיים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model, security, API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עוברים אישור </a:t>
            </a:r>
            <a:r>
              <a:rPr lang="en-US" sz="10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לפני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deploy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347204" y="3621024"/>
            <a:ext cx="14173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347204" y="3694176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900" i="1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CTO Review + FOUNDER מאשר לפני production</a:t>
            </a:r>
            <a:endParaRPr lang="en-US" sz="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לולאות היזון </a:t>
            </a:r>
            <a:r>
              <a:rPr lang="en-US" sz="1900" b="1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חוזר</a:t>
            </a: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מה חוזר לאן ומדוע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56616" y="658368"/>
            <a:ext cx="4096512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56616" y="658368"/>
            <a:ext cx="64008" cy="1344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3776" y="713232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3AE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QA → DEV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3776" y="950976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באג נמצא → תיקון</a:t>
            </a:r>
            <a:endParaRPr lang="en-US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93776" y="1289304"/>
            <a:ext cx="3867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QA </a:t>
            </a:r>
            <a:r>
              <a:rPr lang="he-IL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מוצא</a:t>
            </a:r>
            <a:r>
              <a:rPr lang="en-US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באג, מתעד </a:t>
            </a:r>
            <a:r>
              <a:rPr lang="en-US" sz="1050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בפורמט</a:t>
            </a:r>
            <a:r>
              <a:rPr lang="en-US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מובנה</a:t>
            </a:r>
            <a:r>
              <a:rPr lang="he-IL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en-US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DEV מתקן. חוזר ל-QA לאימות. </a:t>
            </a:r>
            <a:r>
              <a:rPr lang="en-US" sz="1050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ללא</a:t>
            </a:r>
            <a:r>
              <a:rPr lang="en-US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Sign-off </a:t>
            </a:r>
            <a:r>
              <a:rPr lang="he-IL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אין</a:t>
            </a:r>
            <a:r>
              <a:rPr lang="en-US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DONE</a:t>
            </a:r>
            <a:r>
              <a:rPr lang="he-IL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90872" y="658368"/>
            <a:ext cx="4096512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90872" y="658368"/>
            <a:ext cx="64008" cy="1344168"/>
          </a:xfrm>
          <a:prstGeom prst="rect">
            <a:avLst/>
          </a:prstGeom>
          <a:solidFill>
            <a:srgbClr val="4F6FF5"/>
          </a:solidFill>
          <a:ln w="12700">
            <a:solidFill>
              <a:srgbClr val="4F6FF5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28032" y="713232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F6F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CTO Review → DEV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28032" y="950976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Code Review → </a:t>
            </a:r>
            <a:r>
              <a:rPr lang="he-IL" sz="1300" b="1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300" b="1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שיפור</a:t>
            </a:r>
            <a:endParaRPr lang="en-US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28032" y="1289304"/>
            <a:ext cx="3867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CTO </a:t>
            </a:r>
            <a:r>
              <a:rPr lang="he-IL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מחזיר קוד עם </a:t>
            </a:r>
            <a:r>
              <a:rPr lang="en-US" sz="1050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פידבק</a:t>
            </a:r>
            <a:r>
              <a:rPr lang="en-US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מפורט</a:t>
            </a:r>
            <a:r>
              <a:rPr lang="he-IL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en-US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 </a:t>
            </a:r>
            <a:r>
              <a:rPr lang="he-IL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מתקן</a:t>
            </a:r>
            <a:r>
              <a:rPr lang="en-US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ומגיש מחדש. מחזור עד שהקוד </a:t>
            </a:r>
            <a:r>
              <a:rPr lang="en-US" sz="1050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עובר</a:t>
            </a:r>
            <a:r>
              <a:rPr lang="en-US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Review</a:t>
            </a:r>
            <a:r>
              <a:rPr lang="he-IL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56616" y="2167128"/>
            <a:ext cx="4096512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56616" y="2167128"/>
            <a:ext cx="64008" cy="1344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3776" y="2221992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5966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 → CTO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3776" y="2459736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Blocker → </a:t>
            </a:r>
            <a:r>
              <a:rPr lang="he-IL" sz="1300" b="1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300" b="1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הכרעה</a:t>
            </a:r>
            <a:endParaRPr lang="en-US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3776" y="2798064"/>
            <a:ext cx="3867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 </a:t>
            </a:r>
            <a:r>
              <a:rPr lang="he-IL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מוצא</a:t>
            </a:r>
            <a:r>
              <a:rPr lang="en-US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אי-בהירות בדרישות → מדגל מיד. לא מנחש. CTO/FOUNDER </a:t>
            </a:r>
            <a:r>
              <a:rPr lang="he-IL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מבהירים</a:t>
            </a:r>
            <a:r>
              <a:rPr lang="en-US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ומחליטים.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90872" y="2167128"/>
            <a:ext cx="4096512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90872" y="2167128"/>
            <a:ext cx="64008" cy="1344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28032" y="2221992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CTO → FOUNDER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28032" y="2459736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FLAG </a:t>
            </a:r>
            <a:r>
              <a:rPr lang="he-IL" sz="1300" b="1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300" b="1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החלטה</a:t>
            </a:r>
            <a:r>
              <a:rPr lang="en-US" sz="1300" b="1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→ אישור</a:t>
            </a:r>
            <a:endParaRPr lang="en-US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28032" y="2798064"/>
            <a:ext cx="3867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CTO </a:t>
            </a:r>
            <a:r>
              <a:rPr lang="he-IL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מציג</a:t>
            </a:r>
            <a:r>
              <a:rPr lang="en-US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options + trade-offs. FOUNDER בוחר. מתועד ב-DECISIONS.md עם date ו-rationale.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56616" y="3675888"/>
            <a:ext cx="4096512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56616" y="3675888"/>
            <a:ext cx="64008" cy="13441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3776" y="3730752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A580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Sprint Review → Planning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3776" y="3968496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Retrospective Loop</a:t>
            </a:r>
            <a:endParaRPr lang="en-US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93776" y="4306824"/>
            <a:ext cx="3867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כל ספרינט מסתיים ב-review. מה עבד? מה לא? הלמידה משפיעה ישירות על הספרינט הבא.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90872" y="3675888"/>
            <a:ext cx="4096512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690872" y="3675888"/>
            <a:ext cx="64008" cy="1344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28032" y="3730752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C262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Users → PRD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28032" y="3968496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פידבק משתמשים → PRD</a:t>
            </a:r>
            <a:endParaRPr lang="en-US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28032" y="4306824"/>
            <a:ext cx="3867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פידבק מהורים, מורים ותלמידים משפיע על PRD.md. PRD הוא living document — מתעדכן תמיד.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Definition of Done </a:t>
            </a:r>
            <a:r>
              <a:rPr lang="he-IL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</a:t>
            </a: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5 שערים חובה לפני DONE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</a:t>
            </a:r>
            <a:r>
              <a:rPr lang="he-IL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מוכרז 'DONE' </a:t>
            </a:r>
            <a:r>
              <a:rPr lang="he-IL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עד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שכל 5 </a:t>
            </a:r>
            <a:r>
              <a:rPr lang="he-IL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השערים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עברו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'זה עובד' לא מספיק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8036" y="1005840"/>
            <a:ext cx="1600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88036" y="1005840"/>
            <a:ext cx="1600200" cy="475488"/>
          </a:xfrm>
          <a:prstGeom prst="rect">
            <a:avLst/>
          </a:prstGeom>
          <a:solidFill>
            <a:srgbClr val="4F6FF5"/>
          </a:solidFill>
          <a:ln w="12700">
            <a:solidFill>
              <a:srgbClr val="4F6FF5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88036" y="1005840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88036" y="15727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⚙️</a:t>
            </a:r>
            <a:endParaRPr lang="en-US" sz="3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79476" y="21671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F6F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Code Works</a:t>
            </a:r>
            <a:endParaRPr lang="en-US" sz="12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79476" y="2578608"/>
            <a:ext cx="14173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 server </a:t>
            </a:r>
            <a:r>
              <a:rPr lang="he-IL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רץ</a:t>
            </a: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ללא errors. הפיצ'ר עובד בפועל — לא רק 'מתקמפל'.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029968" y="1005840"/>
            <a:ext cx="1600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29968" y="1005840"/>
            <a:ext cx="160020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029968" y="1005840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029968" y="15727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🧪</a:t>
            </a:r>
            <a:endParaRPr lang="en-US" sz="3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121408" y="21671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3AE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Tests Pass</a:t>
            </a:r>
            <a:endParaRPr lang="en-US" sz="12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121408" y="2578608"/>
            <a:ext cx="14173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כל unit + integration tests עוברים. נכתבו tests לכל קוד חדש.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771900" y="1005840"/>
            <a:ext cx="1600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771900" y="1005840"/>
            <a:ext cx="1600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771900" y="1005840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771900" y="15727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🎭</a:t>
            </a:r>
            <a:endParaRPr lang="en-US" sz="3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863340" y="21671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E2E Pass</a:t>
            </a:r>
            <a:endParaRPr lang="en-US" sz="12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863340" y="2578608"/>
            <a:ext cx="14173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Playwright flows עוברים. Screenshots צולמו ב-tests/screenshots/.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513832" y="1005840"/>
            <a:ext cx="1600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513832" y="1005840"/>
            <a:ext cx="1600200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513832" y="1005840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513832" y="15727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🔒</a:t>
            </a:r>
            <a:endParaRPr lang="en-US" sz="3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605272" y="21671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580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Regressions</a:t>
            </a:r>
            <a:endParaRPr lang="en-US" sz="12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605272" y="2578608"/>
            <a:ext cx="14173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פיצ'רים קיימים ממשיכים לעבוד. QA ביצע Regression testing מלא.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255764" y="1005840"/>
            <a:ext cx="1600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255764" y="1005840"/>
            <a:ext cx="160020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255764" y="1005840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255764" y="15727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👁️</a:t>
            </a:r>
            <a:endParaRPr lang="en-US" sz="3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347204" y="21671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Reviewed</a:t>
            </a:r>
            <a:endParaRPr lang="en-US" sz="12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347204" y="2578608"/>
            <a:ext cx="14173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CTO ביצע Code Review. FOUNDER ראה ואישר את התוצאה הסופית.</a:t>
            </a: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0040" y="4544568"/>
            <a:ext cx="850392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38912" y="45445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⚠  NEVER mark done based on 'it compiles' alone </a:t>
            </a:r>
            <a:r>
              <a:rPr lang="he-IL" sz="1100" b="1" dirty="0">
                <a:solidFill>
                  <a:srgbClr val="DC262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1100" b="1" dirty="0">
                <a:solidFill>
                  <a:srgbClr val="DC262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100" b="1" dirty="0" err="1">
                <a:solidFill>
                  <a:srgbClr val="DC262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כל</a:t>
            </a:r>
            <a:r>
              <a:rPr lang="en-US" sz="1100" b="1" dirty="0">
                <a:solidFill>
                  <a:srgbClr val="DC262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5 השערים חייבים להיות ירוקים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2252"/>
          </a:solidFill>
          <a:ln w="12700">
            <a:solidFill>
              <a:srgbClr val="1A225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מהרעיון ועד לביצוע — ציר הזמן המלא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60120" y="1700784"/>
            <a:ext cx="72237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58952" y="1536192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77824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מגדיר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62912" y="1536192"/>
            <a:ext cx="402336" cy="402336"/>
          </a:xfrm>
          <a:prstGeom prst="ellipse">
            <a:avLst/>
          </a:prstGeom>
          <a:solidFill>
            <a:srgbClr val="4F6FF5"/>
          </a:solidFill>
          <a:ln w="12700">
            <a:solidFill>
              <a:srgbClr val="4F6FF5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61160" y="877824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[CTO]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F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מתכנן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66872" y="1536192"/>
            <a:ext cx="402336" cy="40233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65120" y="877824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0832" y="1536192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069080" y="877824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[DEV]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מפתח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4792" y="1536192"/>
            <a:ext cx="402336" cy="402336"/>
          </a:xfrm>
          <a:prstGeom prst="ellipse">
            <a:avLst/>
          </a:prstGeom>
          <a:solidFill>
            <a:srgbClr val="4F6FF5"/>
          </a:solidFill>
          <a:ln w="12700">
            <a:solidFill>
              <a:srgbClr val="4F6FF5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73040" y="877824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[CTO]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F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78752" y="1536192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77000" y="877824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[QA]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בודק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82712" y="1536192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80960" y="877824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0058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2011680"/>
            <a:ext cx="10058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30352" y="2112264"/>
            <a:ext cx="8595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עדיפות, PRD, Sprint Goal, Scope ברור</a:t>
            </a:r>
            <a:endParaRPr lang="en-US" sz="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661160" y="2011680"/>
            <a:ext cx="10058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661160" y="2011680"/>
            <a:ext cx="1005840" cy="45720"/>
          </a:xfrm>
          <a:prstGeom prst="rect">
            <a:avLst/>
          </a:prstGeom>
          <a:solidFill>
            <a:srgbClr val="4F6FF5"/>
          </a:solidFill>
          <a:ln w="12700">
            <a:solidFill>
              <a:srgbClr val="4F6FF5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734312" y="2112264"/>
            <a:ext cx="8595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Architecture, DECISIONS.md, Task breakdown</a:t>
            </a:r>
            <a:endParaRPr lang="en-US" sz="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865120" y="2011680"/>
            <a:ext cx="10058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865120" y="2011680"/>
            <a:ext cx="100584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938272" y="2112264"/>
            <a:ext cx="8595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הפיכה → CTO ממשיך</a:t>
            </a:r>
            <a:endParaRPr lang="en-US" sz="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r>
              <a:rPr lang="en-US" sz="9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בלתי-הפיכה → FLAG לFOUNDER</a:t>
            </a:r>
            <a:endParaRPr lang="en-US" sz="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069080" y="2011680"/>
            <a:ext cx="10058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069080" y="2011680"/>
            <a:ext cx="10058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142232" y="2112264"/>
            <a:ext cx="8595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 first → Implement → Tests → Report</a:t>
            </a:r>
            <a:endParaRPr lang="en-US" sz="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273040" y="2011680"/>
            <a:ext cx="10058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273040" y="2011680"/>
            <a:ext cx="1005840" cy="45720"/>
          </a:xfrm>
          <a:prstGeom prst="rect">
            <a:avLst/>
          </a:prstGeom>
          <a:solidFill>
            <a:srgbClr val="4F6FF5"/>
          </a:solidFill>
          <a:ln w="12700">
            <a:solidFill>
              <a:srgbClr val="4F6FF5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46192" y="2112264"/>
            <a:ext cx="8595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Approved → ממשיך ל-QA</a:t>
            </a:r>
            <a:endParaRPr lang="en-US" sz="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r>
              <a:rPr lang="en-US" sz="9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Rejected → חוזר ל-DEV</a:t>
            </a:r>
            <a:endParaRPr lang="en-US" sz="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477000" y="2011680"/>
            <a:ext cx="10058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477000" y="2011680"/>
            <a:ext cx="10058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50152" y="2112264"/>
            <a:ext cx="8595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Unit + E2E + Bug Reports + Sign-off</a:t>
            </a:r>
            <a:endParaRPr lang="en-US" sz="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680960" y="2011680"/>
            <a:ext cx="10058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680960" y="2011680"/>
            <a:ext cx="10058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754112" y="2112264"/>
            <a:ext cx="8595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1E29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כל 5 שערים ירוקים, FOUNDER אישר</a:t>
            </a:r>
            <a:endParaRPr lang="en-US" sz="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20040" y="44165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i="1" dirty="0">
                <a:solidFill>
                  <a:srgbClr val="6474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↺ Feedback Loops — כל שלב יכול לחזור לשלב הקודם אם יש בעיות</a:t>
            </a:r>
            <a:endParaRPr lang="en-US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5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6FF5"/>
          </a:solidFill>
          <a:ln w="12700">
            <a:solidFill>
              <a:srgbClr val="4F6FF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</a:t>
            </a:r>
            <a:r>
              <a:rPr lang="en-US" sz="3200" b="1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נקודות</a:t>
            </a:r>
            <a:r>
              <a:rPr lang="en-US" sz="3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מפתח למנהלים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30352" cy="987552"/>
          </a:xfrm>
          <a:prstGeom prst="rect">
            <a:avLst/>
          </a:prstGeom>
          <a:solidFill>
            <a:srgbClr val="D97706">
              <a:alpha val="7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530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</a:t>
            </a:r>
            <a:endParaRPr lang="en-US" sz="2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33856" y="1344168"/>
            <a:ext cx="7571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האדם הוא </a:t>
            </a:r>
            <a:r>
              <a:rPr lang="en-US" sz="1700" b="1" dirty="0" err="1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המחליט</a:t>
            </a:r>
            <a:r>
              <a:rPr lang="en-US" sz="170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170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170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dirty="0" err="1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לא</a:t>
            </a:r>
            <a:r>
              <a:rPr lang="en-US" sz="170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ה</a:t>
            </a:r>
            <a:r>
              <a:rPr lang="he-IL" sz="170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1700" b="1" dirty="0">
                <a:solidFill>
                  <a:srgbClr val="D9770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33856" y="1755648"/>
            <a:ext cx="7571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BD5E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 </a:t>
            </a:r>
            <a:r>
              <a:rPr lang="he-IL" sz="1200" dirty="0">
                <a:solidFill>
                  <a:srgbClr val="CBD5E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כותב</a:t>
            </a:r>
            <a:r>
              <a:rPr lang="en-US" sz="1200" dirty="0">
                <a:solidFill>
                  <a:srgbClr val="CBD5E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מתכנן ובודק. אבל כל החלטה אסטרטגית, כל שינוי scope, כל sign-off — נשאר בידיים שלכם.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530352" cy="987552"/>
          </a:xfrm>
          <a:prstGeom prst="rect">
            <a:avLst/>
          </a:prstGeom>
          <a:solidFill>
            <a:srgbClr val="4F6FF5">
              <a:alpha val="75000"/>
            </a:srgbClr>
          </a:solidFill>
          <a:ln w="12700">
            <a:solidFill>
              <a:srgbClr val="4F6FF5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530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02</a:t>
            </a:r>
            <a:endParaRPr lang="en-US" sz="2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33856" y="2532888"/>
            <a:ext cx="7571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4F6F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כל שלב מתועד ושקוף לחלוטין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33856" y="2944368"/>
            <a:ext cx="7571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BD5E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DECISIONS.md, Sprint Reports, Bug Reports — הכל נרשם. בכל רגע ניתן לראות מה קרה, מי החליט ולמה.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3675888"/>
            <a:ext cx="530352" cy="987552"/>
          </a:xfrm>
          <a:prstGeom prst="rect">
            <a:avLst/>
          </a:prstGeom>
          <a:solidFill>
            <a:srgbClr val="059669">
              <a:alpha val="75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3675888"/>
            <a:ext cx="530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</a:t>
            </a:r>
            <a:endParaRPr lang="en-US" sz="2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33856" y="3721608"/>
            <a:ext cx="7571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05966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איכות נבנית תוך כדי — לא בסוף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33856" y="4133088"/>
            <a:ext cx="7571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BD5E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Tests נכתבים עם הקוד, לא אחריו. QA בודק לפני DONE. 5 שערים של Definition of Done — לא רק 'זה עובד'.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252"/>
          </a:solidFill>
          <a:ln w="12700">
            <a:solidFill>
              <a:srgbClr val="1A2252"/>
            </a:solidFill>
            <a:prstDash val="solid"/>
          </a:ln>
        </p:spPr>
        <p:txBody>
          <a:bodyPr/>
          <a:lstStyle/>
          <a:p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SchoolHub  ·  AI-Assisted Development Framework  ·  2026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1465</Words>
  <Application>Microsoft Office PowerPoint</Application>
  <PresentationFormat>‫הצגה על המסך (16:9)</PresentationFormat>
  <Paragraphs>293</Paragraphs>
  <Slides>13</Slides>
  <Notes>13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18" baseType="lpstr">
      <vt:lpstr>Arial</vt:lpstr>
      <vt:lpstr>Calibri</vt:lpstr>
      <vt:lpstr>Georgia</vt:lpstr>
      <vt:lpstr>Tahoma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Development Framework</dc:title>
  <dc:subject>PptxGenJS Presentation</dc:subject>
  <dc:creator>SchoolHub</dc:creator>
  <cp:lastModifiedBy>Avishai Oz</cp:lastModifiedBy>
  <cp:revision>8</cp:revision>
  <dcterms:created xsi:type="dcterms:W3CDTF">2026-03-18T11:32:07Z</dcterms:created>
  <dcterms:modified xsi:type="dcterms:W3CDTF">2026-03-18T16:58:16Z</dcterms:modified>
</cp:coreProperties>
</file>